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James Martin, and this is Orphan Finder. Nature is still our best source of medicine. About half of all approved drugs come from natural products, from plants, microbes, and fungi. But for most of these molecules, we don't know what they hit in the body. We can see they're active. We just don't know where they act. We call those orphan molecules. Orphan Finder gives them a target.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don't we already know? Because of how target prediction normally works. The usual approach is guilt by association. If a new molecule looks like a known drug, we assume it hits the same protein. Chemists score that resemblance from zero to one: one means chemical twins, zero means nothing in common. That works right up until a molecule looks like nothing we've seen. And orphans, by definition, look like nothing we've seen. We measured where it breaks. Below one half, prediction falls apart. Across 695,000 natural products, sixty-three percent live past that line. We call it the analog wall. Orphan Finder always knows which side of the wall it's on. With a look-alike, it uses it. Without one, it stops guessing and turns to physics, folding the molecule into the protein to see if it truly fits.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system runs on Claude Science. From one instruction, it gathers the world's natural-product libraries, reads each protein's structure, sends the hard cases to physics-based docking on GPUs, and ranks what it finds. You point it at a molecule. It hands back the likely targets, and how much to trust each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the physics route really find targets past the wall? Here's the test that convinced me. Two molecules: one orphan natural product, one approved drug. On that similarity score they sit at zero point two eight. They're chemical strangers, no shared skeleton. Yet both fold into the same pocket of the same enzyme, InhA, the protein the tuberculosis drug isoniazid attacks. Both grip its catalytic residue. Both beat a field of decoys, and a separate structure method agrees. Two strangers, the same target, found by one rule. That's the tool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antibiotic, naming the target isn't enough. Bacteria fight back. They mutate the target until the drug stops sticking. That's resistance, and it's killing our medicines faster than we replace them. So we taught Orphan Finder a harder question: not just does it bind, but does it still bind after the bacteria mutate? We checked it against resistance we already understand, and it correctly predicted how today's drugs fail. Then we turned it on the orphans. Against the enzyme DHFR, seven natural products are predicted to keep working right where the frontline drug is defeated. Resistance-proof leads, from molecules nobody had a target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isn't just tuberculosis. We pointed the same engine at gut-microbe molecules and asked what they do to us. It flagged a whole family of microbial pigments all hitting one human receptor, PXR, the switch that controls how our bodies clear drugs. Every one confirmed by docking. Antibiotics, the microbiome, the brain. One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percent of nature's molecules have no known target. That's not a dead end, it's an unopened library. Orphan Finder opens it, and hands you ranked, structure-backed, resistance-aware leads to test. Fully open, fully reproducible. Built on Claude Science.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2194560"/>
            <a:ext cx="10515600" cy="1463040"/>
          </a:xfrm>
          <a:prstGeom prst="rect">
            <a:avLst/>
          </a:prstGeom>
          <a:noFill/>
        </p:spPr>
        <p:txBody>
          <a:bodyPr wrap="square" anchor="t">
            <a:spAutoFit/>
          </a:bodyPr>
          <a:lstStyle/>
          <a:p>
            <a:pPr algn="l"/>
            <a:r>
              <a:rPr sz="4600" b="1">
                <a:solidFill>
                  <a:srgbClr val="E6EDF3"/>
                </a:solidFill>
                <a:latin typeface="Arial"/>
              </a:rPr>
              <a:t>Orphan Finder</a:t>
            </a:r>
          </a:p>
        </p:txBody>
      </p:sp>
      <p:sp>
        <p:nvSpPr>
          <p:cNvPr id="3" name="TextBox 2"/>
          <p:cNvSpPr txBox="1"/>
          <p:nvPr/>
        </p:nvSpPr>
        <p:spPr>
          <a:xfrm>
            <a:off x="822960" y="3246120"/>
            <a:ext cx="10515600" cy="1554480"/>
          </a:xfrm>
          <a:prstGeom prst="rect">
            <a:avLst/>
          </a:prstGeom>
          <a:noFill/>
        </p:spPr>
        <p:txBody>
          <a:bodyPr wrap="square" anchor="t">
            <a:spAutoFit/>
          </a:bodyPr>
          <a:lstStyle/>
          <a:p>
            <a:pPr algn="l"/>
            <a:r>
              <a:rPr sz="2000" b="1">
                <a:solidFill>
                  <a:srgbClr val="58A6FF"/>
                </a:solidFill>
                <a:latin typeface="Arial"/>
              </a:rPr>
              <a:t>Team: Past the Wall</a:t>
            </a:r>
          </a:p>
          <a:p>
            <a:pPr algn="l"/>
            <a:r>
              <a:rPr sz="2000">
                <a:solidFill>
                  <a:srgbClr val="9198A1"/>
                </a:solidFill>
                <a:latin typeface="Arial"/>
              </a:rPr>
              <a:t>Reliability-aware target prediction: from natural products to drug repurposing to antimicrobial resistance</a:t>
            </a:r>
          </a:p>
        </p:txBody>
      </p:sp>
      <p:sp>
        <p:nvSpPr>
          <p:cNvPr id="4" name="TextBox 3"/>
          <p:cNvSpPr txBox="1"/>
          <p:nvPr/>
        </p:nvSpPr>
        <p:spPr>
          <a:xfrm>
            <a:off x="822960" y="5120640"/>
            <a:ext cx="10515600" cy="548640"/>
          </a:xfrm>
          <a:prstGeom prst="rect">
            <a:avLst/>
          </a:prstGeom>
          <a:noFill/>
        </p:spPr>
        <p:txBody>
          <a:bodyPr wrap="square" anchor="t">
            <a:spAutoFit/>
          </a:bodyPr>
          <a:lstStyle/>
          <a:p>
            <a:pPr algn="l"/>
            <a:r>
              <a:rPr sz="1600" b="0">
                <a:solidFill>
                  <a:srgbClr val="E6EDF3"/>
                </a:solidFill>
                <a:latin typeface="Arial"/>
              </a:rPr>
              <a:t>James K. Martin II, PhD   ·   Rowan-Virtua School of Osteopathic Medicine</a:t>
            </a:r>
          </a:p>
        </p:txBody>
      </p:sp>
      <p:sp>
        <p:nvSpPr>
          <p:cNvPr id="5" name="TextBox 4"/>
          <p:cNvSpPr txBox="1"/>
          <p:nvPr/>
        </p:nvSpPr>
        <p:spPr>
          <a:xfrm>
            <a:off x="822960" y="5669280"/>
            <a:ext cx="10515600" cy="457200"/>
          </a:xfrm>
          <a:prstGeom prst="rect">
            <a:avLst/>
          </a:prstGeom>
          <a:noFill/>
        </p:spPr>
        <p:txBody>
          <a:bodyPr wrap="square" anchor="t">
            <a:spAutoFit/>
          </a:bodyPr>
          <a:lstStyle/>
          <a:p>
            <a:pPr algn="l"/>
            <a:r>
              <a:rPr sz="1500" b="1">
                <a:solidFill>
                  <a:srgbClr val="58A6FF"/>
                </a:solidFill>
                <a:latin typeface="Arial"/>
              </a:rPr>
              <a:t>Built with Claude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40080" y="411480"/>
            <a:ext cx="7315200" cy="365760"/>
          </a:xfrm>
          <a:prstGeom prst="rect">
            <a:avLst/>
          </a:prstGeom>
          <a:noFill/>
        </p:spPr>
        <p:txBody>
          <a:bodyPr wrap="square" anchor="t">
            <a:spAutoFit/>
          </a:bodyPr>
          <a:lstStyle/>
          <a:p>
            <a:pPr algn="l"/>
            <a:r>
              <a:rPr sz="1500" b="1">
                <a:solidFill>
                  <a:srgbClr val="58A6FF"/>
                </a:solidFill>
                <a:latin typeface="Arial"/>
              </a:rPr>
              <a:t>THE PROBLEM WE MEASURED</a:t>
            </a:r>
          </a:p>
        </p:txBody>
      </p:sp>
      <p:sp>
        <p:nvSpPr>
          <p:cNvPr id="3" name="TextBox 2"/>
          <p:cNvSpPr txBox="1"/>
          <p:nvPr/>
        </p:nvSpPr>
        <p:spPr>
          <a:xfrm>
            <a:off x="640080" y="868680"/>
            <a:ext cx="6583680" cy="1280160"/>
          </a:xfrm>
          <a:prstGeom prst="rect">
            <a:avLst/>
          </a:prstGeom>
          <a:noFill/>
        </p:spPr>
        <p:txBody>
          <a:bodyPr wrap="square" anchor="t">
            <a:spAutoFit/>
          </a:bodyPr>
          <a:lstStyle/>
          <a:p>
            <a:pPr algn="l"/>
            <a:r>
              <a:rPr sz="3000" b="1">
                <a:solidFill>
                  <a:srgbClr val="E6EDF3"/>
                </a:solidFill>
                <a:latin typeface="Arial"/>
              </a:rPr>
              <a:t>Similarity prediction has a failure boundary. We measured it.</a:t>
            </a:r>
          </a:p>
        </p:txBody>
      </p:sp>
      <p:sp>
        <p:nvSpPr>
          <p:cNvPr id="4" name="Rounded Rectangle 3"/>
          <p:cNvSpPr/>
          <p:nvPr/>
        </p:nvSpPr>
        <p:spPr>
          <a:xfrm>
            <a:off x="640080" y="2377440"/>
            <a:ext cx="4206240" cy="3840480"/>
          </a:xfrm>
          <a:prstGeom prst="round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651760"/>
            <a:ext cx="3657600" cy="1097280"/>
          </a:xfrm>
          <a:prstGeom prst="rect">
            <a:avLst/>
          </a:prstGeom>
          <a:noFill/>
        </p:spPr>
        <p:txBody>
          <a:bodyPr wrap="square" anchor="t">
            <a:spAutoFit/>
          </a:bodyPr>
          <a:lstStyle/>
          <a:p>
            <a:pPr algn="l"/>
            <a:r>
              <a:rPr sz="6400" b="1">
                <a:solidFill>
                  <a:srgbClr val="58A6FF"/>
                </a:solidFill>
                <a:latin typeface="Arial"/>
              </a:rPr>
              <a:t>63%</a:t>
            </a:r>
          </a:p>
        </p:txBody>
      </p:sp>
      <p:sp>
        <p:nvSpPr>
          <p:cNvPr id="6" name="TextBox 5"/>
          <p:cNvSpPr txBox="1"/>
          <p:nvPr/>
        </p:nvSpPr>
        <p:spPr>
          <a:xfrm>
            <a:off x="914400" y="3749039"/>
            <a:ext cx="3657600" cy="2194560"/>
          </a:xfrm>
          <a:prstGeom prst="rect">
            <a:avLst/>
          </a:prstGeom>
          <a:noFill/>
        </p:spPr>
        <p:txBody>
          <a:bodyPr wrap="square" anchor="t">
            <a:spAutoFit/>
          </a:bodyPr>
          <a:lstStyle/>
          <a:p>
            <a:pPr algn="l"/>
            <a:r>
              <a:rPr sz="1800" b="0">
                <a:solidFill>
                  <a:srgbClr val="E6EDF3"/>
                </a:solidFill>
                <a:latin typeface="Arial"/>
              </a:rPr>
              <a:t>of 695,133 natural products have no close analog among known binders.</a:t>
            </a:r>
          </a:p>
          <a:p>
            <a:pPr algn="l"/>
            <a:r>
              <a:rPr sz="1800" b="0">
                <a:solidFill>
                  <a:srgbClr val="E6EDF3"/>
                </a:solidFill>
                <a:latin typeface="Arial"/>
              </a:rPr>
              <a:t/>
            </a:r>
          </a:p>
          <a:p>
            <a:pPr algn="l"/>
            <a:r>
              <a:rPr sz="1800" b="0">
                <a:solidFill>
                  <a:srgbClr val="E6EDF3"/>
                </a:solidFill>
                <a:latin typeface="Arial"/>
              </a:rPr>
              <a:t>For these, similarity transfer provably cannot work. There is nothing to compare to.</a:t>
            </a:r>
          </a:p>
        </p:txBody>
      </p:sp>
      <p:pic>
        <p:nvPicPr>
          <p:cNvPr id="7" name="Picture 6" descr="analog_wall_system.png"/>
          <p:cNvPicPr>
            <a:picLocks noChangeAspect="1"/>
          </p:cNvPicPr>
          <p:nvPr/>
        </p:nvPicPr>
        <p:blipFill>
          <a:blip r:embed="rId2"/>
          <a:stretch>
            <a:fillRect/>
          </a:stretch>
        </p:blipFill>
        <p:spPr>
          <a:xfrm>
            <a:off x="5120640" y="2534237"/>
            <a:ext cx="6492240" cy="361832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40080" y="411480"/>
            <a:ext cx="7315200" cy="365760"/>
          </a:xfrm>
          <a:prstGeom prst="rect">
            <a:avLst/>
          </a:prstGeom>
          <a:noFill/>
        </p:spPr>
        <p:txBody>
          <a:bodyPr wrap="square" anchor="t">
            <a:spAutoFit/>
          </a:bodyPr>
          <a:lstStyle/>
          <a:p>
            <a:pPr algn="l"/>
            <a:r>
              <a:rPr sz="1500" b="1">
                <a:solidFill>
                  <a:srgbClr val="58A6FF"/>
                </a:solidFill>
                <a:latin typeface="Arial"/>
              </a:rPr>
              <a:t>BUILT ON CLAUDE SCIENCE</a:t>
            </a:r>
          </a:p>
        </p:txBody>
      </p:sp>
      <p:sp>
        <p:nvSpPr>
          <p:cNvPr id="3" name="TextBox 2"/>
          <p:cNvSpPr txBox="1"/>
          <p:nvPr/>
        </p:nvSpPr>
        <p:spPr>
          <a:xfrm>
            <a:off x="640080" y="868680"/>
            <a:ext cx="10972800" cy="914400"/>
          </a:xfrm>
          <a:prstGeom prst="rect">
            <a:avLst/>
          </a:prstGeom>
          <a:noFill/>
        </p:spPr>
        <p:txBody>
          <a:bodyPr wrap="square" anchor="t">
            <a:spAutoFit/>
          </a:bodyPr>
          <a:lstStyle/>
          <a:p>
            <a:pPr algn="l"/>
            <a:r>
              <a:rPr sz="3000" b="1">
                <a:solidFill>
                  <a:srgbClr val="E6EDF3"/>
                </a:solidFill>
                <a:latin typeface="Arial"/>
              </a:rPr>
              <a:t>One prompt drives the whole engine</a:t>
            </a:r>
          </a:p>
        </p:txBody>
      </p:sp>
      <p:sp>
        <p:nvSpPr>
          <p:cNvPr id="4" name="Rounded Rectangle 3"/>
          <p:cNvSpPr/>
          <p:nvPr/>
        </p:nvSpPr>
        <p:spPr>
          <a:xfrm>
            <a:off x="640080" y="2194560"/>
            <a:ext cx="3566160" cy="3840480"/>
          </a:xfrm>
          <a:prstGeom prst="round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468880"/>
            <a:ext cx="3108960" cy="914400"/>
          </a:xfrm>
          <a:prstGeom prst="rect">
            <a:avLst/>
          </a:prstGeom>
          <a:noFill/>
        </p:spPr>
        <p:txBody>
          <a:bodyPr wrap="square" anchor="t">
            <a:spAutoFit/>
          </a:bodyPr>
          <a:lstStyle/>
          <a:p>
            <a:pPr algn="l"/>
            <a:r>
              <a:rPr sz="1900" b="1">
                <a:solidFill>
                  <a:srgbClr val="58A6FF"/>
                </a:solidFill>
                <a:latin typeface="Arial"/>
              </a:rPr>
              <a:t>Orchestrate</a:t>
            </a:r>
          </a:p>
        </p:txBody>
      </p:sp>
      <p:sp>
        <p:nvSpPr>
          <p:cNvPr id="6" name="TextBox 5"/>
          <p:cNvSpPr txBox="1"/>
          <p:nvPr/>
        </p:nvSpPr>
        <p:spPr>
          <a:xfrm>
            <a:off x="868680" y="3474720"/>
            <a:ext cx="3108960" cy="2377440"/>
          </a:xfrm>
          <a:prstGeom prst="rect">
            <a:avLst/>
          </a:prstGeom>
          <a:noFill/>
        </p:spPr>
        <p:txBody>
          <a:bodyPr wrap="square" anchor="t">
            <a:spAutoFit/>
          </a:bodyPr>
          <a:lstStyle/>
          <a:p>
            <a:pPr algn="l"/>
            <a:r>
              <a:rPr sz="1600" b="0">
                <a:solidFill>
                  <a:srgbClr val="E6EDF3"/>
                </a:solidFill>
                <a:latin typeface="Arial"/>
              </a:rPr>
              <a:t>Pulls COCONUT, ChEMBL, and the Broad repurposing library into one screening set.</a:t>
            </a:r>
          </a:p>
        </p:txBody>
      </p:sp>
      <p:sp>
        <p:nvSpPr>
          <p:cNvPr id="7" name="Rounded Rectangle 6"/>
          <p:cNvSpPr/>
          <p:nvPr/>
        </p:nvSpPr>
        <p:spPr>
          <a:xfrm>
            <a:off x="4434840" y="2194560"/>
            <a:ext cx="3566160" cy="3840480"/>
          </a:xfrm>
          <a:prstGeom prst="round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468880"/>
            <a:ext cx="3108960" cy="914400"/>
          </a:xfrm>
          <a:prstGeom prst="rect">
            <a:avLst/>
          </a:prstGeom>
          <a:noFill/>
        </p:spPr>
        <p:txBody>
          <a:bodyPr wrap="square" anchor="t">
            <a:spAutoFit/>
          </a:bodyPr>
          <a:lstStyle/>
          <a:p>
            <a:pPr algn="l"/>
            <a:r>
              <a:rPr sz="1900" b="1">
                <a:solidFill>
                  <a:srgbClr val="58A6FF"/>
                </a:solidFill>
                <a:latin typeface="Arial"/>
              </a:rPr>
              <a:t>Model + dock</a:t>
            </a:r>
          </a:p>
        </p:txBody>
      </p:sp>
      <p:sp>
        <p:nvSpPr>
          <p:cNvPr id="9" name="TextBox 8"/>
          <p:cNvSpPr txBox="1"/>
          <p:nvPr/>
        </p:nvSpPr>
        <p:spPr>
          <a:xfrm>
            <a:off x="4663440" y="3474720"/>
            <a:ext cx="3108960" cy="2377440"/>
          </a:xfrm>
          <a:prstGeom prst="rect">
            <a:avLst/>
          </a:prstGeom>
          <a:noFill/>
        </p:spPr>
        <p:txBody>
          <a:bodyPr wrap="square" anchor="t">
            <a:spAutoFit/>
          </a:bodyPr>
          <a:lstStyle/>
          <a:p>
            <a:pPr algn="l"/>
            <a:r>
              <a:rPr sz="1600" b="0">
                <a:solidFill>
                  <a:srgbClr val="E6EDF3"/>
                </a:solidFill>
                <a:latin typeface="Arial"/>
              </a:rPr>
              <a:t>Runs ESM-2 embeddings and dispatches docking to GPUs on Modal, scoring every pose.</a:t>
            </a:r>
          </a:p>
        </p:txBody>
      </p:sp>
      <p:sp>
        <p:nvSpPr>
          <p:cNvPr id="10" name="Rounded Rectangle 9"/>
          <p:cNvSpPr/>
          <p:nvPr/>
        </p:nvSpPr>
        <p:spPr>
          <a:xfrm>
            <a:off x="8229600" y="2194560"/>
            <a:ext cx="3566160" cy="3840480"/>
          </a:xfrm>
          <a:prstGeom prst="roundRect">
            <a:avLst/>
          </a:prstGeom>
          <a:solidFill>
            <a:srgbClr val="1D2A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2468880"/>
            <a:ext cx="3108960" cy="914400"/>
          </a:xfrm>
          <a:prstGeom prst="rect">
            <a:avLst/>
          </a:prstGeom>
          <a:noFill/>
        </p:spPr>
        <p:txBody>
          <a:bodyPr wrap="square" anchor="t">
            <a:spAutoFit/>
          </a:bodyPr>
          <a:lstStyle/>
          <a:p>
            <a:pPr algn="l"/>
            <a:r>
              <a:rPr sz="1900" b="1">
                <a:solidFill>
                  <a:srgbClr val="58A6FF"/>
                </a:solidFill>
                <a:latin typeface="Arial"/>
              </a:rPr>
              <a:t>Return ranked leads</a:t>
            </a:r>
          </a:p>
        </p:txBody>
      </p:sp>
      <p:sp>
        <p:nvSpPr>
          <p:cNvPr id="12" name="TextBox 11"/>
          <p:cNvSpPr txBox="1"/>
          <p:nvPr/>
        </p:nvSpPr>
        <p:spPr>
          <a:xfrm>
            <a:off x="8458200" y="3474720"/>
            <a:ext cx="3108960" cy="2377440"/>
          </a:xfrm>
          <a:prstGeom prst="rect">
            <a:avLst/>
          </a:prstGeom>
          <a:noFill/>
        </p:spPr>
        <p:txBody>
          <a:bodyPr wrap="square" anchor="t">
            <a:spAutoFit/>
          </a:bodyPr>
          <a:lstStyle/>
          <a:p>
            <a:pPr algn="l"/>
            <a:r>
              <a:rPr sz="1600" b="0">
                <a:solidFill>
                  <a:srgbClr val="E6EDF3"/>
                </a:solidFill>
                <a:latin typeface="Arial"/>
              </a:rPr>
              <a:t>Fingerprints 695,000 compounds and returns structure-checked target hypotheses.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40080" y="411480"/>
            <a:ext cx="7315200" cy="365760"/>
          </a:xfrm>
          <a:prstGeom prst="rect">
            <a:avLst/>
          </a:prstGeom>
          <a:noFill/>
        </p:spPr>
        <p:txBody>
          <a:bodyPr wrap="square" anchor="t">
            <a:spAutoFit/>
          </a:bodyPr>
          <a:lstStyle/>
          <a:p>
            <a:pPr algn="l"/>
            <a:r>
              <a:rPr sz="1500" b="1">
                <a:solidFill>
                  <a:srgbClr val="58A6FF"/>
                </a:solidFill>
                <a:latin typeface="Arial"/>
              </a:rPr>
              <a:t>THE HEADLINE RESULT</a:t>
            </a:r>
          </a:p>
        </p:txBody>
      </p:sp>
      <p:sp>
        <p:nvSpPr>
          <p:cNvPr id="3" name="TextBox 2"/>
          <p:cNvSpPr txBox="1"/>
          <p:nvPr/>
        </p:nvSpPr>
        <p:spPr>
          <a:xfrm>
            <a:off x="640080" y="868680"/>
            <a:ext cx="6400800" cy="1645920"/>
          </a:xfrm>
          <a:prstGeom prst="rect">
            <a:avLst/>
          </a:prstGeom>
          <a:noFill/>
        </p:spPr>
        <p:txBody>
          <a:bodyPr wrap="square" anchor="t">
            <a:spAutoFit/>
          </a:bodyPr>
          <a:lstStyle/>
          <a:p>
            <a:pPr algn="l"/>
            <a:r>
              <a:rPr sz="2800" b="1">
                <a:solidFill>
                  <a:srgbClr val="E6EDF3"/>
                </a:solidFill>
                <a:latin typeface="Arial"/>
              </a:rPr>
              <a:t>An orphan natural product and an approved drug converge on the same TB target</a:t>
            </a:r>
          </a:p>
        </p:txBody>
      </p:sp>
      <p:sp>
        <p:nvSpPr>
          <p:cNvPr id="4" name="TextBox 3"/>
          <p:cNvSpPr txBox="1"/>
          <p:nvPr/>
        </p:nvSpPr>
        <p:spPr>
          <a:xfrm>
            <a:off x="640080" y="2834640"/>
            <a:ext cx="4297680" cy="3108960"/>
          </a:xfrm>
          <a:prstGeom prst="rect">
            <a:avLst/>
          </a:prstGeom>
          <a:noFill/>
        </p:spPr>
        <p:txBody>
          <a:bodyPr wrap="square" anchor="t">
            <a:spAutoFit/>
          </a:bodyPr>
          <a:lstStyle/>
          <a:p>
            <a:pPr algn="l"/>
            <a:r>
              <a:rPr sz="1800" b="0">
                <a:solidFill>
                  <a:srgbClr val="E6EDF3"/>
                </a:solidFill>
                <a:latin typeface="Arial"/>
              </a:rPr>
              <a:t>Two chemically unrelated molecules land on M. tuberculosis InhA through one shared validation standard.</a:t>
            </a:r>
          </a:p>
          <a:p>
            <a:pPr algn="l"/>
            <a:r>
              <a:rPr sz="1800" b="0">
                <a:solidFill>
                  <a:srgbClr val="E6EDF3"/>
                </a:solidFill>
                <a:latin typeface="Arial"/>
              </a:rPr>
              <a:t/>
            </a:r>
          </a:p>
          <a:p>
            <a:pPr algn="l"/>
            <a:r>
              <a:rPr sz="1800" b="0">
                <a:solidFill>
                  <a:srgbClr val="E6EDF3"/>
                </a:solidFill>
                <a:latin typeface="Arial"/>
              </a:rPr>
              <a:t>Both beat a property-matched decoy control. An independent structure predictor confirms the poses.</a:t>
            </a:r>
          </a:p>
        </p:txBody>
      </p:sp>
      <p:pic>
        <p:nvPicPr>
          <p:cNvPr id="5" name="Picture 4" descr="unified_inha_convergence.png"/>
          <p:cNvPicPr>
            <a:picLocks noChangeAspect="1"/>
          </p:cNvPicPr>
          <p:nvPr/>
        </p:nvPicPr>
        <p:blipFill>
          <a:blip r:embed="rId2"/>
          <a:stretch>
            <a:fillRect/>
          </a:stretch>
        </p:blipFill>
        <p:spPr>
          <a:xfrm>
            <a:off x="5212080" y="2553921"/>
            <a:ext cx="6400800" cy="348751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40080" y="411480"/>
            <a:ext cx="7315200" cy="365760"/>
          </a:xfrm>
          <a:prstGeom prst="rect">
            <a:avLst/>
          </a:prstGeom>
          <a:noFill/>
        </p:spPr>
        <p:txBody>
          <a:bodyPr wrap="square" anchor="t">
            <a:spAutoFit/>
          </a:bodyPr>
          <a:lstStyle/>
          <a:p>
            <a:pPr algn="l"/>
            <a:r>
              <a:rPr sz="1500" b="1">
                <a:solidFill>
                  <a:srgbClr val="58A6FF"/>
                </a:solidFill>
                <a:latin typeface="Arial"/>
              </a:rPr>
              <a:t>THE EXTENSION THAT MATTERS FOR ANTIBIOTICS</a:t>
            </a:r>
          </a:p>
        </p:txBody>
      </p:sp>
      <p:sp>
        <p:nvSpPr>
          <p:cNvPr id="3" name="TextBox 2"/>
          <p:cNvSpPr txBox="1"/>
          <p:nvPr/>
        </p:nvSpPr>
        <p:spPr>
          <a:xfrm>
            <a:off x="640080" y="868680"/>
            <a:ext cx="6400800" cy="1645920"/>
          </a:xfrm>
          <a:prstGeom prst="rect">
            <a:avLst/>
          </a:prstGeom>
          <a:noFill/>
        </p:spPr>
        <p:txBody>
          <a:bodyPr wrap="square" anchor="t">
            <a:spAutoFit/>
          </a:bodyPr>
          <a:lstStyle/>
          <a:p>
            <a:pPr algn="l"/>
            <a:r>
              <a:rPr sz="2800" b="1">
                <a:solidFill>
                  <a:srgbClr val="E6EDF3"/>
                </a:solidFill>
                <a:latin typeface="Arial"/>
              </a:rPr>
              <a:t>Will the target still be druggable after resistance mutations?</a:t>
            </a:r>
          </a:p>
        </p:txBody>
      </p:sp>
      <p:sp>
        <p:nvSpPr>
          <p:cNvPr id="4" name="TextBox 3"/>
          <p:cNvSpPr txBox="1"/>
          <p:nvPr/>
        </p:nvSpPr>
        <p:spPr>
          <a:xfrm>
            <a:off x="640080" y="2743200"/>
            <a:ext cx="4297680" cy="3291840"/>
          </a:xfrm>
          <a:prstGeom prst="rect">
            <a:avLst/>
          </a:prstGeom>
          <a:noFill/>
        </p:spPr>
        <p:txBody>
          <a:bodyPr wrap="square" anchor="t">
            <a:spAutoFit/>
          </a:bodyPr>
          <a:lstStyle/>
          <a:p>
            <a:pPr algn="l"/>
            <a:r>
              <a:rPr sz="1700" b="0">
                <a:solidFill>
                  <a:srgbClr val="E6EDF3"/>
                </a:solidFill>
                <a:latin typeface="Arial"/>
              </a:rPr>
              <a:t>Rigid docking is blind to resistance. We added a mutant-aware database and a control-validated ΔΔG layer.</a:t>
            </a:r>
          </a:p>
          <a:p>
            <a:pPr algn="l"/>
            <a:r>
              <a:rPr sz="1700" b="0">
                <a:solidFill>
                  <a:srgbClr val="E6EDF3"/>
                </a:solidFill>
                <a:latin typeface="Arial"/>
              </a:rPr>
              <a:t/>
            </a:r>
          </a:p>
          <a:p>
            <a:pPr algn="l"/>
            <a:r>
              <a:rPr sz="1700" b="0">
                <a:solidFill>
                  <a:srgbClr val="E6EDF3"/>
                </a:solidFill>
                <a:latin typeface="Arial"/>
              </a:rPr>
              <a:t>It passes the mutation test ordinary docking fails, and nominates natural products predicted more resistance-robust than the front-line drug.</a:t>
            </a:r>
          </a:p>
          <a:p>
            <a:pPr algn="l"/>
            <a:r>
              <a:rPr sz="1700" b="0">
                <a:solidFill>
                  <a:srgbClr val="E6EDF3"/>
                </a:solidFill>
                <a:latin typeface="Arial"/>
              </a:rPr>
              <a:t/>
            </a:r>
          </a:p>
          <a:p>
            <a:pPr algn="l"/>
            <a:r>
              <a:rPr sz="1700" b="0">
                <a:solidFill>
                  <a:srgbClr val="E6EDF3"/>
                </a:solidFill>
                <a:latin typeface="Arial"/>
              </a:rPr>
              <a:t>Seven on the DHFR family alone.</a:t>
            </a:r>
          </a:p>
        </p:txBody>
      </p:sp>
      <p:pic>
        <p:nvPicPr>
          <p:cNvPr id="5" name="Picture 4" descr="mutant_selective_screen.png"/>
          <p:cNvPicPr>
            <a:picLocks noChangeAspect="1"/>
          </p:cNvPicPr>
          <p:nvPr/>
        </p:nvPicPr>
        <p:blipFill>
          <a:blip r:embed="rId2"/>
          <a:stretch>
            <a:fillRect/>
          </a:stretch>
        </p:blipFill>
        <p:spPr>
          <a:xfrm>
            <a:off x="5212080" y="2939083"/>
            <a:ext cx="6400800" cy="271719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40080" y="411480"/>
            <a:ext cx="7315200" cy="365760"/>
          </a:xfrm>
          <a:prstGeom prst="rect">
            <a:avLst/>
          </a:prstGeom>
          <a:noFill/>
        </p:spPr>
        <p:txBody>
          <a:bodyPr wrap="square" anchor="t">
            <a:spAutoFit/>
          </a:bodyPr>
          <a:lstStyle/>
          <a:p>
            <a:pPr algn="l"/>
            <a:r>
              <a:rPr sz="1500" b="1">
                <a:solidFill>
                  <a:srgbClr val="58A6FF"/>
                </a:solidFill>
                <a:latin typeface="Arial"/>
              </a:rPr>
              <a:t>SAME INSTRUMENT, THREE PROBLEMS</a:t>
            </a:r>
          </a:p>
        </p:txBody>
      </p:sp>
      <p:sp>
        <p:nvSpPr>
          <p:cNvPr id="3" name="TextBox 2"/>
          <p:cNvSpPr txBox="1"/>
          <p:nvPr/>
        </p:nvSpPr>
        <p:spPr>
          <a:xfrm>
            <a:off x="640080" y="868680"/>
            <a:ext cx="10972800" cy="914400"/>
          </a:xfrm>
          <a:prstGeom prst="rect">
            <a:avLst/>
          </a:prstGeom>
          <a:noFill/>
        </p:spPr>
        <p:txBody>
          <a:bodyPr wrap="square" anchor="t">
            <a:spAutoFit/>
          </a:bodyPr>
          <a:lstStyle/>
          <a:p>
            <a:pPr algn="l"/>
            <a:r>
              <a:rPr sz="3000" b="1">
                <a:solidFill>
                  <a:srgbClr val="E6EDF3"/>
                </a:solidFill>
                <a:latin typeface="Arial"/>
              </a:rPr>
              <a:t>It is not a one-target trick</a:t>
            </a:r>
          </a:p>
        </p:txBody>
      </p:sp>
      <p:sp>
        <p:nvSpPr>
          <p:cNvPr id="4" name="Rounded Rectangle 3"/>
          <p:cNvSpPr/>
          <p:nvPr/>
        </p:nvSpPr>
        <p:spPr>
          <a:xfrm>
            <a:off x="640080" y="2103120"/>
            <a:ext cx="3566160" cy="2194560"/>
          </a:xfrm>
          <a:prstGeom prst="round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286000"/>
            <a:ext cx="3108960" cy="731520"/>
          </a:xfrm>
          <a:prstGeom prst="rect">
            <a:avLst/>
          </a:prstGeom>
          <a:noFill/>
        </p:spPr>
        <p:txBody>
          <a:bodyPr wrap="square" anchor="t">
            <a:spAutoFit/>
          </a:bodyPr>
          <a:lstStyle/>
          <a:p>
            <a:pPr algn="l"/>
            <a:r>
              <a:rPr sz="1900" b="1">
                <a:solidFill>
                  <a:srgbClr val="58A6FF"/>
                </a:solidFill>
                <a:latin typeface="Arial"/>
              </a:rPr>
              <a:t>Antimicrobials</a:t>
            </a:r>
          </a:p>
        </p:txBody>
      </p:sp>
      <p:sp>
        <p:nvSpPr>
          <p:cNvPr id="6" name="TextBox 5"/>
          <p:cNvSpPr txBox="1"/>
          <p:nvPr/>
        </p:nvSpPr>
        <p:spPr>
          <a:xfrm>
            <a:off x="868680" y="3017520"/>
            <a:ext cx="3108960" cy="1188720"/>
          </a:xfrm>
          <a:prstGeom prst="rect">
            <a:avLst/>
          </a:prstGeom>
          <a:noFill/>
        </p:spPr>
        <p:txBody>
          <a:bodyPr wrap="square" anchor="t">
            <a:spAutoFit/>
          </a:bodyPr>
          <a:lstStyle/>
          <a:p>
            <a:pPr algn="l"/>
            <a:r>
              <a:rPr sz="1500" b="0">
                <a:solidFill>
                  <a:srgbClr val="E6EDF3"/>
                </a:solidFill>
                <a:latin typeface="Arial"/>
              </a:rPr>
              <a:t>Natural-product and repurposing leads against priority pathogens, resistance-aware.</a:t>
            </a:r>
          </a:p>
        </p:txBody>
      </p:sp>
      <p:sp>
        <p:nvSpPr>
          <p:cNvPr id="7" name="Rounded Rectangle 6"/>
          <p:cNvSpPr/>
          <p:nvPr/>
        </p:nvSpPr>
        <p:spPr>
          <a:xfrm>
            <a:off x="4434840" y="2103120"/>
            <a:ext cx="3566160" cy="2194560"/>
          </a:xfrm>
          <a:prstGeom prst="round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3108960" cy="731520"/>
          </a:xfrm>
          <a:prstGeom prst="rect">
            <a:avLst/>
          </a:prstGeom>
          <a:noFill/>
        </p:spPr>
        <p:txBody>
          <a:bodyPr wrap="square" anchor="t">
            <a:spAutoFit/>
          </a:bodyPr>
          <a:lstStyle/>
          <a:p>
            <a:pPr algn="l"/>
            <a:r>
              <a:rPr sz="1900" b="1">
                <a:solidFill>
                  <a:srgbClr val="58A6FF"/>
                </a:solidFill>
                <a:latin typeface="Arial"/>
              </a:rPr>
              <a:t>Alzheimer's / CNS</a:t>
            </a:r>
          </a:p>
        </p:txBody>
      </p:sp>
      <p:sp>
        <p:nvSpPr>
          <p:cNvPr id="9" name="TextBox 8"/>
          <p:cNvSpPr txBox="1"/>
          <p:nvPr/>
        </p:nvSpPr>
        <p:spPr>
          <a:xfrm>
            <a:off x="4663440" y="3017520"/>
            <a:ext cx="3108960" cy="1188720"/>
          </a:xfrm>
          <a:prstGeom prst="rect">
            <a:avLst/>
          </a:prstGeom>
          <a:noFill/>
        </p:spPr>
        <p:txBody>
          <a:bodyPr wrap="square" anchor="t">
            <a:spAutoFit/>
          </a:bodyPr>
          <a:lstStyle/>
          <a:p>
            <a:pPr algn="l"/>
            <a:r>
              <a:rPr sz="1500" b="0">
                <a:solidFill>
                  <a:srgbClr val="E6EDF3"/>
                </a:solidFill>
                <a:latin typeface="Arial"/>
              </a:rPr>
              <a:t>Same pipeline, ported unchanged across 1.7M CNS-like compounds.</a:t>
            </a:r>
          </a:p>
        </p:txBody>
      </p:sp>
      <p:sp>
        <p:nvSpPr>
          <p:cNvPr id="10" name="Rounded Rectangle 9"/>
          <p:cNvSpPr/>
          <p:nvPr/>
        </p:nvSpPr>
        <p:spPr>
          <a:xfrm>
            <a:off x="8229600" y="2103120"/>
            <a:ext cx="3566160" cy="2194560"/>
          </a:xfrm>
          <a:prstGeom prst="round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2286000"/>
            <a:ext cx="3108960" cy="731520"/>
          </a:xfrm>
          <a:prstGeom prst="rect">
            <a:avLst/>
          </a:prstGeom>
          <a:noFill/>
        </p:spPr>
        <p:txBody>
          <a:bodyPr wrap="square" anchor="t">
            <a:spAutoFit/>
          </a:bodyPr>
          <a:lstStyle/>
          <a:p>
            <a:pPr algn="l"/>
            <a:r>
              <a:rPr sz="1900" b="1">
                <a:solidFill>
                  <a:srgbClr val="58A6FF"/>
                </a:solidFill>
                <a:latin typeface="Arial"/>
              </a:rPr>
              <a:t>Microbiome to host</a:t>
            </a:r>
          </a:p>
        </p:txBody>
      </p:sp>
      <p:sp>
        <p:nvSpPr>
          <p:cNvPr id="12" name="TextBox 11"/>
          <p:cNvSpPr txBox="1"/>
          <p:nvPr/>
        </p:nvSpPr>
        <p:spPr>
          <a:xfrm>
            <a:off x="8458200" y="3017520"/>
            <a:ext cx="3108960" cy="1188720"/>
          </a:xfrm>
          <a:prstGeom prst="rect">
            <a:avLst/>
          </a:prstGeom>
          <a:noFill/>
        </p:spPr>
        <p:txBody>
          <a:bodyPr wrap="square" anchor="t">
            <a:spAutoFit/>
          </a:bodyPr>
          <a:lstStyle/>
          <a:p>
            <a:pPr algn="l"/>
            <a:r>
              <a:rPr sz="1500" b="0">
                <a:solidFill>
                  <a:srgbClr val="E6EDF3"/>
                </a:solidFill>
                <a:latin typeface="Arial"/>
              </a:rPr>
              <a:t>A family of microbial carotenoids converges on the human receptor PXR, confirmed by docking.</a:t>
            </a:r>
          </a:p>
        </p:txBody>
      </p:sp>
      <p:pic>
        <p:nvPicPr>
          <p:cNvPr id="13" name="Picture 12" descr="microbiome_downstream.png"/>
          <p:cNvPicPr>
            <a:picLocks noChangeAspect="1"/>
          </p:cNvPicPr>
          <p:nvPr/>
        </p:nvPicPr>
        <p:blipFill>
          <a:blip r:embed="rId2"/>
          <a:stretch>
            <a:fillRect/>
          </a:stretch>
        </p:blipFill>
        <p:spPr>
          <a:xfrm>
            <a:off x="2844637" y="4434840"/>
            <a:ext cx="6472246" cy="2194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1463040"/>
            <a:ext cx="10515600" cy="1097280"/>
          </a:xfrm>
          <a:prstGeom prst="rect">
            <a:avLst/>
          </a:prstGeom>
          <a:noFill/>
        </p:spPr>
        <p:txBody>
          <a:bodyPr wrap="square" anchor="t">
            <a:spAutoFit/>
          </a:bodyPr>
          <a:lstStyle/>
          <a:p>
            <a:pPr algn="l"/>
            <a:r>
              <a:rPr sz="3000" b="1">
                <a:solidFill>
                  <a:srgbClr val="E6EDF3"/>
                </a:solidFill>
                <a:latin typeface="Arial"/>
              </a:rPr>
              <a:t>90% of natural products have no known target. We rank them.</a:t>
            </a:r>
          </a:p>
        </p:txBody>
      </p:sp>
      <p:sp>
        <p:nvSpPr>
          <p:cNvPr id="3" name="TextBox 2"/>
          <p:cNvSpPr txBox="1"/>
          <p:nvPr/>
        </p:nvSpPr>
        <p:spPr>
          <a:xfrm>
            <a:off x="822960" y="2834640"/>
            <a:ext cx="10515600" cy="1828800"/>
          </a:xfrm>
          <a:prstGeom prst="rect">
            <a:avLst/>
          </a:prstGeom>
          <a:noFill/>
        </p:spPr>
        <p:txBody>
          <a:bodyPr wrap="square" anchor="t">
            <a:spAutoFit/>
          </a:bodyPr>
          <a:lstStyle/>
          <a:p>
            <a:pPr algn="l"/>
            <a:r>
              <a:rPr sz="2000" b="0">
                <a:solidFill>
                  <a:srgbClr val="9198A1"/>
                </a:solidFill>
                <a:latin typeface="Arial"/>
              </a:rPr>
              <a:t>Structure-backed, resistance-aware leads, ready to test.
Fully open. Every result reproduces from the repository.</a:t>
            </a:r>
          </a:p>
        </p:txBody>
      </p:sp>
      <p:sp>
        <p:nvSpPr>
          <p:cNvPr id="4" name="TextBox 3"/>
          <p:cNvSpPr txBox="1"/>
          <p:nvPr/>
        </p:nvSpPr>
        <p:spPr>
          <a:xfrm>
            <a:off x="822960" y="4937760"/>
            <a:ext cx="10515600" cy="548640"/>
          </a:xfrm>
          <a:prstGeom prst="rect">
            <a:avLst/>
          </a:prstGeom>
          <a:noFill/>
        </p:spPr>
        <p:txBody>
          <a:bodyPr wrap="square" anchor="t">
            <a:spAutoFit/>
          </a:bodyPr>
          <a:lstStyle/>
          <a:p>
            <a:pPr algn="l"/>
            <a:r>
              <a:rPr sz="1700" b="1">
                <a:solidFill>
                  <a:srgbClr val="58A6FF"/>
                </a:solidFill>
                <a:latin typeface="Arial"/>
              </a:rPr>
              <a:t>github.com/DocMartin95/analog-wall-target-prediction</a:t>
            </a:r>
          </a:p>
        </p:txBody>
      </p:sp>
      <p:sp>
        <p:nvSpPr>
          <p:cNvPr id="5" name="TextBox 4"/>
          <p:cNvSpPr txBox="1"/>
          <p:nvPr/>
        </p:nvSpPr>
        <p:spPr>
          <a:xfrm>
            <a:off x="822960" y="5577840"/>
            <a:ext cx="10515600" cy="457200"/>
          </a:xfrm>
          <a:prstGeom prst="rect">
            <a:avLst/>
          </a:prstGeom>
          <a:noFill/>
        </p:spPr>
        <p:txBody>
          <a:bodyPr wrap="square" anchor="t">
            <a:spAutoFit/>
          </a:bodyPr>
          <a:lstStyle/>
          <a:p>
            <a:pPr algn="l"/>
            <a:r>
              <a:rPr sz="1500" b="1">
                <a:solidFill>
                  <a:srgbClr val="3FB950"/>
                </a:solidFill>
                <a:latin typeface="Arial"/>
              </a:rPr>
              <a:t>Built on Claude Science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