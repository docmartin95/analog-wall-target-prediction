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James Martin, and this is Orphan Finder. About half of all approved drugs come from natural products, from plants, microbes, and fungi. But most of these molecules are stuck: we can see they do something, yet we don't know which protein they act on, and without the target you can't build a drug. We call those orphan molecules. Orphan Finder gives them a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don't we already know? It comes down to how prediction normally works: guilt by association. If a new molecule looks like a drug we understand, we assume it hits the same protein. Chemists score that resemblance from zero to one, one means near-identical twins, zero means nothing in common. But that shortcut fails for the molecules that matter most. Orphans, by definition, look like nothing we've seen, so there's nothing to compare them to. We measured exactly where it breaks: below a similarity of one half, prediction collapses. Across 695,000 natural products, sixty-three percent live past that cliff. We call it the analog wall. So here's our idea: Orphan Finder always knows which side of the wall it's on. With a close relative, it uses the shortcut. Past the wall, it switches to physics, folding the molecule's 3D shape into the protein's pocket to see if it truly fits.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whole system runs on Claude Science. From one instruction, it pulls together the world's natural-product libraries, reads in each protein's 3D structure, sends the hard past-the-wall cases to physics-based docking on GPUs, and ranks everything by how strong and how trustworthy the prediction is. You point it at a molecule, and it returns the proteins it most likely targets, with an honest confidence for each. A months-long lab hunt becomes a single run.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when Orphan Finder goes past the wall, does it land on real targets? Here's the result that convinced me. Take two molecules. One orphan natural product, and one compound from a drug-repurposing library, made for a different purpose. On that similarity score they sit at zero point two eight, far below the wall. They are chemical strangers, sharing no common skeleton. And yet both fold into the same pocket of the same bacterial enzyme, InhA, the enzyme the frontline tuberculosis drug isoniazid was built to shut down. Both grip the same catalytic residue. Both beat a whole field of decoy controls. And a separate structure-prediction method puts them in the same place. Two chemical strangers, pointed at the same target, found by one rule. That's the tool working.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antibiotic, naming the target isn't enough. Bacteria fight back, mutating the target until the drug no longer sticks. That's antibiotic resistance, and it's retiring our medicines faster than we invent new ones. So we taught Orphan Finder a harder question: not just does it bind, but does it still bind after the bacteria mutate? We checked it against resistance we already understand, and it correctly reproduced how today's drugs get defeated. Then we turned it on the orphans. Against an enzyme called DHFR, seven orphan natural products are predicted to keep their grip exactly where the frontline drug loses it, holding on through the resistance mutations. Resistance-proof leads, from molecules that had no known target at 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isn't a one-trick tool for tuberculosis. To show it generalizes, we pointed the same engine at the microbiome, the molecules our gut bacteria release into us, most of which have no known human target. First a sanity check: the engine re-discovered signaling we already know is real, niacin and bile acids hitting their known human receptors. Then the new finding. It flagged a family of microbial carotenoids, the pigments these bacteria make, all converging on one human protein: PXR, the master switch that controls how our bodies clear drugs. All nine dock as tightly as rifampicin, the known drug that activates it. A concrete, testable hypothesis: our gut microbes' pigments may be tuning how we metabolize medicine. Same engine, a different frontier.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ninety percent of nature's molecules have no known target. That's not a dead end. It's an enormous, unopened library of possible medicines. Orphan Finder opens it, taking molecules nobody had a target for and handing back ranked, structure-backed, resistance-aware leads a lab can test. It's fully open source, and every result reproduces from the repository. Built on Claude Science.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nchor="t">
            <a:spAutoFit/>
          </a:bodyPr>
          <a:lstStyle/>
          <a:p>
            <a:pPr algn="l"/>
            <a:r>
              <a:rPr sz="4600" b="1">
                <a:solidFill>
                  <a:srgbClr val="E6EDF3"/>
                </a:solidFill>
                <a:latin typeface="Arial"/>
              </a:rPr>
              <a:t>Orphan Finder</a:t>
            </a:r>
          </a:p>
        </p:txBody>
      </p:sp>
      <p:sp>
        <p:nvSpPr>
          <p:cNvPr id="3" name="TextBox 2"/>
          <p:cNvSpPr txBox="1"/>
          <p:nvPr/>
        </p:nvSpPr>
        <p:spPr>
          <a:xfrm>
            <a:off x="822960" y="3246120"/>
            <a:ext cx="10515600" cy="1554480"/>
          </a:xfrm>
          <a:prstGeom prst="rect">
            <a:avLst/>
          </a:prstGeom>
          <a:noFill/>
        </p:spPr>
        <p:txBody>
          <a:bodyPr wrap="square" anchor="t">
            <a:spAutoFit/>
          </a:bodyPr>
          <a:lstStyle/>
          <a:p>
            <a:pPr algn="l"/>
            <a:r>
              <a:rPr sz="2000" b="1">
                <a:solidFill>
                  <a:srgbClr val="58A6FF"/>
                </a:solidFill>
                <a:latin typeface="Arial"/>
              </a:rPr>
              <a:t>Team: Past the Wall</a:t>
            </a:r>
          </a:p>
          <a:p>
            <a:pPr algn="l"/>
            <a:r>
              <a:rPr sz="2000">
                <a:solidFill>
                  <a:srgbClr val="9198A1"/>
                </a:solidFill>
                <a:latin typeface="Arial"/>
              </a:rPr>
              <a:t>Reliability-aware target prediction: from natural products to drug repurposing to antimicrobial resistance</a:t>
            </a:r>
          </a:p>
        </p:txBody>
      </p:sp>
      <p:sp>
        <p:nvSpPr>
          <p:cNvPr id="4" name="TextBox 3"/>
          <p:cNvSpPr txBox="1"/>
          <p:nvPr/>
        </p:nvSpPr>
        <p:spPr>
          <a:xfrm>
            <a:off x="822960" y="5120640"/>
            <a:ext cx="10515600" cy="548640"/>
          </a:xfrm>
          <a:prstGeom prst="rect">
            <a:avLst/>
          </a:prstGeom>
          <a:noFill/>
        </p:spPr>
        <p:txBody>
          <a:bodyPr wrap="square" anchor="t">
            <a:spAutoFit/>
          </a:bodyPr>
          <a:lstStyle/>
          <a:p>
            <a:pPr algn="l"/>
            <a:r>
              <a:rPr sz="1600" b="0">
                <a:solidFill>
                  <a:srgbClr val="E6EDF3"/>
                </a:solidFill>
                <a:latin typeface="Arial"/>
              </a:rPr>
              <a:t>James K. Martin II, PhD   ·   Rowan-Virtua School of Osteopathic Medicine</a:t>
            </a:r>
          </a:p>
        </p:txBody>
      </p:sp>
      <p:sp>
        <p:nvSpPr>
          <p:cNvPr id="5" name="TextBox 4"/>
          <p:cNvSpPr txBox="1"/>
          <p:nvPr/>
        </p:nvSpPr>
        <p:spPr>
          <a:xfrm>
            <a:off x="822960" y="5669280"/>
            <a:ext cx="10515600" cy="457200"/>
          </a:xfrm>
          <a:prstGeom prst="rect">
            <a:avLst/>
          </a:prstGeom>
          <a:noFill/>
        </p:spPr>
        <p:txBody>
          <a:bodyPr wrap="square" anchor="t">
            <a:spAutoFit/>
          </a:bodyPr>
          <a:lstStyle/>
          <a:p>
            <a:pPr algn="l"/>
            <a:r>
              <a:rPr sz="1500" b="1">
                <a:solidFill>
                  <a:srgbClr val="58A6FF"/>
                </a:solidFill>
                <a:latin typeface="Arial"/>
              </a:rPr>
              <a:t>Built with Claude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PROBLEM WE MEASURED</a:t>
            </a:r>
          </a:p>
        </p:txBody>
      </p:sp>
      <p:sp>
        <p:nvSpPr>
          <p:cNvPr id="3" name="TextBox 2"/>
          <p:cNvSpPr txBox="1"/>
          <p:nvPr/>
        </p:nvSpPr>
        <p:spPr>
          <a:xfrm>
            <a:off x="640080" y="868680"/>
            <a:ext cx="6583680" cy="1280160"/>
          </a:xfrm>
          <a:prstGeom prst="rect">
            <a:avLst/>
          </a:prstGeom>
          <a:noFill/>
        </p:spPr>
        <p:txBody>
          <a:bodyPr wrap="square" anchor="t">
            <a:spAutoFit/>
          </a:bodyPr>
          <a:lstStyle/>
          <a:p>
            <a:pPr algn="l"/>
            <a:r>
              <a:rPr sz="3000" b="1">
                <a:solidFill>
                  <a:srgbClr val="E6EDF3"/>
                </a:solidFill>
                <a:latin typeface="Arial"/>
              </a:rPr>
              <a:t>Similarity prediction has a failure boundary. We measured it.</a:t>
            </a:r>
          </a:p>
        </p:txBody>
      </p:sp>
      <p:sp>
        <p:nvSpPr>
          <p:cNvPr id="4" name="Rounded Rectangle 3"/>
          <p:cNvSpPr/>
          <p:nvPr/>
        </p:nvSpPr>
        <p:spPr>
          <a:xfrm>
            <a:off x="640080" y="2377440"/>
            <a:ext cx="420624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651760"/>
            <a:ext cx="3657600" cy="1097280"/>
          </a:xfrm>
          <a:prstGeom prst="rect">
            <a:avLst/>
          </a:prstGeom>
          <a:noFill/>
        </p:spPr>
        <p:txBody>
          <a:bodyPr wrap="square" anchor="t">
            <a:spAutoFit/>
          </a:bodyPr>
          <a:lstStyle/>
          <a:p>
            <a:pPr algn="l"/>
            <a:r>
              <a:rPr sz="6400" b="1">
                <a:solidFill>
                  <a:srgbClr val="58A6FF"/>
                </a:solidFill>
                <a:latin typeface="Arial"/>
              </a:rPr>
              <a:t>63%</a:t>
            </a:r>
          </a:p>
        </p:txBody>
      </p:sp>
      <p:sp>
        <p:nvSpPr>
          <p:cNvPr id="6" name="TextBox 5"/>
          <p:cNvSpPr txBox="1"/>
          <p:nvPr/>
        </p:nvSpPr>
        <p:spPr>
          <a:xfrm>
            <a:off x="914400" y="3749039"/>
            <a:ext cx="3657600" cy="2194560"/>
          </a:xfrm>
          <a:prstGeom prst="rect">
            <a:avLst/>
          </a:prstGeom>
          <a:noFill/>
        </p:spPr>
        <p:txBody>
          <a:bodyPr wrap="square" anchor="t">
            <a:spAutoFit/>
          </a:bodyPr>
          <a:lstStyle/>
          <a:p>
            <a:pPr algn="l"/>
            <a:r>
              <a:rPr sz="1800" b="0">
                <a:solidFill>
                  <a:srgbClr val="E6EDF3"/>
                </a:solidFill>
                <a:latin typeface="Arial"/>
              </a:rPr>
              <a:t>of 695,133 natural products have no close analog among known binders.</a:t>
            </a:r>
          </a:p>
          <a:p>
            <a:pPr algn="l"/>
            <a:r>
              <a:rPr sz="1800" b="0">
                <a:solidFill>
                  <a:srgbClr val="E6EDF3"/>
                </a:solidFill>
                <a:latin typeface="Arial"/>
              </a:rPr>
              <a:t/>
            </a:r>
          </a:p>
          <a:p>
            <a:pPr algn="l"/>
            <a:r>
              <a:rPr sz="1800" b="0">
                <a:solidFill>
                  <a:srgbClr val="E6EDF3"/>
                </a:solidFill>
                <a:latin typeface="Arial"/>
              </a:rPr>
              <a:t>For these, similarity transfer provably cannot work. There is nothing to compare to.</a:t>
            </a:r>
          </a:p>
        </p:txBody>
      </p:sp>
      <p:pic>
        <p:nvPicPr>
          <p:cNvPr id="7" name="Picture 6" descr="analog_wall_system.png"/>
          <p:cNvPicPr>
            <a:picLocks noChangeAspect="1"/>
          </p:cNvPicPr>
          <p:nvPr/>
        </p:nvPicPr>
        <p:blipFill>
          <a:blip r:embed="rId2"/>
          <a:stretch>
            <a:fillRect/>
          </a:stretch>
        </p:blipFill>
        <p:spPr>
          <a:xfrm>
            <a:off x="5120640" y="2534237"/>
            <a:ext cx="6492240" cy="361832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BUILT ON CLAUDE SCIENCE</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3000" b="1">
                <a:solidFill>
                  <a:srgbClr val="E6EDF3"/>
                </a:solidFill>
                <a:latin typeface="Arial"/>
              </a:rPr>
              <a:t>One prompt drives the whole engine</a:t>
            </a:r>
          </a:p>
        </p:txBody>
      </p:sp>
      <p:sp>
        <p:nvSpPr>
          <p:cNvPr id="4" name="Rounded Rectangle 3"/>
          <p:cNvSpPr/>
          <p:nvPr/>
        </p:nvSpPr>
        <p:spPr>
          <a:xfrm>
            <a:off x="64008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468880"/>
            <a:ext cx="3108960" cy="914400"/>
          </a:xfrm>
          <a:prstGeom prst="rect">
            <a:avLst/>
          </a:prstGeom>
          <a:noFill/>
        </p:spPr>
        <p:txBody>
          <a:bodyPr wrap="square" anchor="t">
            <a:spAutoFit/>
          </a:bodyPr>
          <a:lstStyle/>
          <a:p>
            <a:pPr algn="l"/>
            <a:r>
              <a:rPr sz="1900" b="1">
                <a:solidFill>
                  <a:srgbClr val="58A6FF"/>
                </a:solidFill>
                <a:latin typeface="Arial"/>
              </a:rPr>
              <a:t>Orchestrate</a:t>
            </a:r>
          </a:p>
        </p:txBody>
      </p:sp>
      <p:sp>
        <p:nvSpPr>
          <p:cNvPr id="6" name="TextBox 5"/>
          <p:cNvSpPr txBox="1"/>
          <p:nvPr/>
        </p:nvSpPr>
        <p:spPr>
          <a:xfrm>
            <a:off x="868680" y="3474720"/>
            <a:ext cx="3108960" cy="2377440"/>
          </a:xfrm>
          <a:prstGeom prst="rect">
            <a:avLst/>
          </a:prstGeom>
          <a:noFill/>
        </p:spPr>
        <p:txBody>
          <a:bodyPr wrap="square" anchor="t">
            <a:spAutoFit/>
          </a:bodyPr>
          <a:lstStyle/>
          <a:p>
            <a:pPr algn="l"/>
            <a:r>
              <a:rPr sz="1600" b="0">
                <a:solidFill>
                  <a:srgbClr val="E6EDF3"/>
                </a:solidFill>
                <a:latin typeface="Arial"/>
              </a:rPr>
              <a:t>Pulls COCONUT, ChEMBL, and the Broad repurposing library into one screening set.</a:t>
            </a:r>
          </a:p>
        </p:txBody>
      </p:sp>
      <p:sp>
        <p:nvSpPr>
          <p:cNvPr id="7" name="Rounded Rectangle 6"/>
          <p:cNvSpPr/>
          <p:nvPr/>
        </p:nvSpPr>
        <p:spPr>
          <a:xfrm>
            <a:off x="4434840" y="2194560"/>
            <a:ext cx="3566160" cy="384048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468880"/>
            <a:ext cx="3108960" cy="914400"/>
          </a:xfrm>
          <a:prstGeom prst="rect">
            <a:avLst/>
          </a:prstGeom>
          <a:noFill/>
        </p:spPr>
        <p:txBody>
          <a:bodyPr wrap="square" anchor="t">
            <a:spAutoFit/>
          </a:bodyPr>
          <a:lstStyle/>
          <a:p>
            <a:pPr algn="l"/>
            <a:r>
              <a:rPr sz="1900" b="1">
                <a:solidFill>
                  <a:srgbClr val="58A6FF"/>
                </a:solidFill>
                <a:latin typeface="Arial"/>
              </a:rPr>
              <a:t>Model + dock</a:t>
            </a:r>
          </a:p>
        </p:txBody>
      </p:sp>
      <p:sp>
        <p:nvSpPr>
          <p:cNvPr id="9" name="TextBox 8"/>
          <p:cNvSpPr txBox="1"/>
          <p:nvPr/>
        </p:nvSpPr>
        <p:spPr>
          <a:xfrm>
            <a:off x="4663440" y="3474720"/>
            <a:ext cx="3108960" cy="2377440"/>
          </a:xfrm>
          <a:prstGeom prst="rect">
            <a:avLst/>
          </a:prstGeom>
          <a:noFill/>
        </p:spPr>
        <p:txBody>
          <a:bodyPr wrap="square" anchor="t">
            <a:spAutoFit/>
          </a:bodyPr>
          <a:lstStyle/>
          <a:p>
            <a:pPr algn="l"/>
            <a:r>
              <a:rPr sz="1600" b="0">
                <a:solidFill>
                  <a:srgbClr val="E6EDF3"/>
                </a:solidFill>
                <a:latin typeface="Arial"/>
              </a:rPr>
              <a:t>Runs ESM-2 embeddings and dispatches docking to GPUs on Modal, scoring every pose.</a:t>
            </a:r>
          </a:p>
        </p:txBody>
      </p:sp>
      <p:sp>
        <p:nvSpPr>
          <p:cNvPr id="10" name="Rounded Rectangle 9"/>
          <p:cNvSpPr/>
          <p:nvPr/>
        </p:nvSpPr>
        <p:spPr>
          <a:xfrm>
            <a:off x="8229600" y="2194560"/>
            <a:ext cx="3566160" cy="3840480"/>
          </a:xfrm>
          <a:prstGeom prst="roundRect">
            <a:avLst/>
          </a:prstGeom>
          <a:solidFill>
            <a:srgbClr val="1D2A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468880"/>
            <a:ext cx="3108960" cy="914400"/>
          </a:xfrm>
          <a:prstGeom prst="rect">
            <a:avLst/>
          </a:prstGeom>
          <a:noFill/>
        </p:spPr>
        <p:txBody>
          <a:bodyPr wrap="square" anchor="t">
            <a:spAutoFit/>
          </a:bodyPr>
          <a:lstStyle/>
          <a:p>
            <a:pPr algn="l"/>
            <a:r>
              <a:rPr sz="1900" b="1">
                <a:solidFill>
                  <a:srgbClr val="58A6FF"/>
                </a:solidFill>
                <a:latin typeface="Arial"/>
              </a:rPr>
              <a:t>Return ranked leads</a:t>
            </a:r>
          </a:p>
        </p:txBody>
      </p:sp>
      <p:sp>
        <p:nvSpPr>
          <p:cNvPr id="12" name="TextBox 11"/>
          <p:cNvSpPr txBox="1"/>
          <p:nvPr/>
        </p:nvSpPr>
        <p:spPr>
          <a:xfrm>
            <a:off x="8458200" y="3474720"/>
            <a:ext cx="3108960" cy="2377440"/>
          </a:xfrm>
          <a:prstGeom prst="rect">
            <a:avLst/>
          </a:prstGeom>
          <a:noFill/>
        </p:spPr>
        <p:txBody>
          <a:bodyPr wrap="square" anchor="t">
            <a:spAutoFit/>
          </a:bodyPr>
          <a:lstStyle/>
          <a:p>
            <a:pPr algn="l"/>
            <a:r>
              <a:rPr sz="1600" b="0">
                <a:solidFill>
                  <a:srgbClr val="E6EDF3"/>
                </a:solidFill>
                <a:latin typeface="Arial"/>
              </a:rPr>
              <a:t>Fingerprints 695,000 compounds and returns structure-checked target hypotheses.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HEADLINE RESULT</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600" b="1">
                <a:solidFill>
                  <a:srgbClr val="E6EDF3"/>
                </a:solidFill>
                <a:latin typeface="Arial"/>
              </a:rPr>
              <a:t>An orphan natural product and a repurposing-library compound converge on the same TB target</a:t>
            </a:r>
          </a:p>
        </p:txBody>
      </p:sp>
      <p:sp>
        <p:nvSpPr>
          <p:cNvPr id="4" name="TextBox 3"/>
          <p:cNvSpPr txBox="1"/>
          <p:nvPr/>
        </p:nvSpPr>
        <p:spPr>
          <a:xfrm>
            <a:off x="640080" y="2834640"/>
            <a:ext cx="4297680" cy="3108960"/>
          </a:xfrm>
          <a:prstGeom prst="rect">
            <a:avLst/>
          </a:prstGeom>
          <a:noFill/>
        </p:spPr>
        <p:txBody>
          <a:bodyPr wrap="square" anchor="t">
            <a:spAutoFit/>
          </a:bodyPr>
          <a:lstStyle/>
          <a:p>
            <a:pPr algn="l"/>
            <a:r>
              <a:rPr sz="1700" b="0">
                <a:solidFill>
                  <a:srgbClr val="9198A1"/>
                </a:solidFill>
                <a:latin typeface="Arial"/>
              </a:rPr>
              <a:t>Two molecules that share no chemical skeleton (Tanimoto 0.28) both land on M. tuberculosis InhA through one shared validation standard.
Both grip the catalytic Tyr158, both beat a matched decoy set, and an independent structure predictor confirms the poses.</a:t>
            </a:r>
          </a:p>
        </p:txBody>
      </p:sp>
      <p:pic>
        <p:nvPicPr>
          <p:cNvPr id="5" name="Picture 4" descr="unified_inha_convergence.png"/>
          <p:cNvPicPr>
            <a:picLocks noChangeAspect="1"/>
          </p:cNvPicPr>
          <p:nvPr/>
        </p:nvPicPr>
        <p:blipFill>
          <a:blip r:embed="rId2"/>
          <a:stretch>
            <a:fillRect/>
          </a:stretch>
        </p:blipFill>
        <p:spPr>
          <a:xfrm>
            <a:off x="5212080" y="2553921"/>
            <a:ext cx="6400800" cy="348751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THE EXTENSION THAT MATTERS FOR ANTIBIOTICS</a:t>
            </a:r>
          </a:p>
        </p:txBody>
      </p:sp>
      <p:sp>
        <p:nvSpPr>
          <p:cNvPr id="3" name="TextBox 2"/>
          <p:cNvSpPr txBox="1"/>
          <p:nvPr/>
        </p:nvSpPr>
        <p:spPr>
          <a:xfrm>
            <a:off x="640080" y="868680"/>
            <a:ext cx="6400800" cy="1645920"/>
          </a:xfrm>
          <a:prstGeom prst="rect">
            <a:avLst/>
          </a:prstGeom>
          <a:noFill/>
        </p:spPr>
        <p:txBody>
          <a:bodyPr wrap="square" anchor="t">
            <a:spAutoFit/>
          </a:bodyPr>
          <a:lstStyle/>
          <a:p>
            <a:pPr algn="l"/>
            <a:r>
              <a:rPr sz="2800" b="1">
                <a:solidFill>
                  <a:srgbClr val="E6EDF3"/>
                </a:solidFill>
                <a:latin typeface="Arial"/>
              </a:rPr>
              <a:t>Will the target still be druggable after resistance mutations?</a:t>
            </a:r>
          </a:p>
        </p:txBody>
      </p:sp>
      <p:sp>
        <p:nvSpPr>
          <p:cNvPr id="4" name="TextBox 3"/>
          <p:cNvSpPr txBox="1"/>
          <p:nvPr/>
        </p:nvSpPr>
        <p:spPr>
          <a:xfrm>
            <a:off x="640080" y="2743200"/>
            <a:ext cx="4297680" cy="3291840"/>
          </a:xfrm>
          <a:prstGeom prst="rect">
            <a:avLst/>
          </a:prstGeom>
          <a:noFill/>
        </p:spPr>
        <p:txBody>
          <a:bodyPr wrap="square" anchor="t">
            <a:spAutoFit/>
          </a:bodyPr>
          <a:lstStyle/>
          <a:p>
            <a:pPr algn="l"/>
            <a:r>
              <a:rPr sz="1700" b="0">
                <a:solidFill>
                  <a:srgbClr val="E6EDF3"/>
                </a:solidFill>
                <a:latin typeface="Arial"/>
              </a:rPr>
              <a:t>Rigid docking is blind to resistance. We added a mutant-aware database and a control-validated ΔΔG layer.</a:t>
            </a:r>
          </a:p>
          <a:p>
            <a:pPr algn="l"/>
            <a:r>
              <a:rPr sz="1700" b="0">
                <a:solidFill>
                  <a:srgbClr val="E6EDF3"/>
                </a:solidFill>
                <a:latin typeface="Arial"/>
              </a:rPr>
              <a:t/>
            </a:r>
          </a:p>
          <a:p>
            <a:pPr algn="l"/>
            <a:r>
              <a:rPr sz="1700" b="0">
                <a:solidFill>
                  <a:srgbClr val="E6EDF3"/>
                </a:solidFill>
                <a:latin typeface="Arial"/>
              </a:rPr>
              <a:t>It passes the mutation test ordinary docking fails, and nominates natural products predicted more resistance-robust than the front-line drug.</a:t>
            </a:r>
          </a:p>
          <a:p>
            <a:pPr algn="l"/>
            <a:r>
              <a:rPr sz="1700" b="0">
                <a:solidFill>
                  <a:srgbClr val="E6EDF3"/>
                </a:solidFill>
                <a:latin typeface="Arial"/>
              </a:rPr>
              <a:t/>
            </a:r>
          </a:p>
          <a:p>
            <a:pPr algn="l"/>
            <a:r>
              <a:rPr sz="1700" b="0">
                <a:solidFill>
                  <a:srgbClr val="E6EDF3"/>
                </a:solidFill>
                <a:latin typeface="Arial"/>
              </a:rPr>
              <a:t>Seven on the DHFR family alone.</a:t>
            </a:r>
          </a:p>
        </p:txBody>
      </p:sp>
      <p:pic>
        <p:nvPicPr>
          <p:cNvPr id="5" name="Picture 4" descr="mutant_selective_screen.png"/>
          <p:cNvPicPr>
            <a:picLocks noChangeAspect="1"/>
          </p:cNvPicPr>
          <p:nvPr/>
        </p:nvPicPr>
        <p:blipFill>
          <a:blip r:embed="rId2"/>
          <a:stretch>
            <a:fillRect/>
          </a:stretch>
        </p:blipFill>
        <p:spPr>
          <a:xfrm>
            <a:off x="5212080" y="2939083"/>
            <a:ext cx="6400800" cy="271719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640080" y="411480"/>
            <a:ext cx="7315200" cy="365760"/>
          </a:xfrm>
          <a:prstGeom prst="rect">
            <a:avLst/>
          </a:prstGeom>
          <a:noFill/>
        </p:spPr>
        <p:txBody>
          <a:bodyPr wrap="square" anchor="t">
            <a:spAutoFit/>
          </a:bodyPr>
          <a:lstStyle/>
          <a:p>
            <a:pPr algn="l"/>
            <a:r>
              <a:rPr sz="1500" b="1">
                <a:solidFill>
                  <a:srgbClr val="58A6FF"/>
                </a:solidFill>
                <a:latin typeface="Arial"/>
              </a:rPr>
              <a:t>GENERALIZATION | A SECOND APPLICATION</a:t>
            </a:r>
          </a:p>
        </p:txBody>
      </p:sp>
      <p:sp>
        <p:nvSpPr>
          <p:cNvPr id="3" name="TextBox 2"/>
          <p:cNvSpPr txBox="1"/>
          <p:nvPr/>
        </p:nvSpPr>
        <p:spPr>
          <a:xfrm>
            <a:off x="640080" y="868680"/>
            <a:ext cx="10972800" cy="914400"/>
          </a:xfrm>
          <a:prstGeom prst="rect">
            <a:avLst/>
          </a:prstGeom>
          <a:noFill/>
        </p:spPr>
        <p:txBody>
          <a:bodyPr wrap="square" anchor="t">
            <a:spAutoFit/>
          </a:bodyPr>
          <a:lstStyle/>
          <a:p>
            <a:pPr algn="l"/>
            <a:r>
              <a:rPr sz="2800" b="1">
                <a:solidFill>
                  <a:srgbClr val="E6EDF3"/>
                </a:solidFill>
                <a:latin typeface="Arial"/>
              </a:rPr>
              <a:t>The same engine, pointed at the microbiome</a:t>
            </a:r>
          </a:p>
        </p:txBody>
      </p:sp>
      <p:sp>
        <p:nvSpPr>
          <p:cNvPr id="4" name="Rounded Rectangle 3"/>
          <p:cNvSpPr/>
          <p:nvPr/>
        </p:nvSpPr>
        <p:spPr>
          <a:xfrm>
            <a:off x="64008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286000"/>
            <a:ext cx="3108960" cy="731520"/>
          </a:xfrm>
          <a:prstGeom prst="rect">
            <a:avLst/>
          </a:prstGeom>
          <a:noFill/>
        </p:spPr>
        <p:txBody>
          <a:bodyPr wrap="square" anchor="t">
            <a:spAutoFit/>
          </a:bodyPr>
          <a:lstStyle/>
          <a:p>
            <a:pPr algn="l"/>
            <a:r>
              <a:rPr sz="1900" b="1">
                <a:solidFill>
                  <a:srgbClr val="58A6FF"/>
                </a:solidFill>
                <a:latin typeface="Arial"/>
              </a:rPr>
              <a:t>Why we looked</a:t>
            </a:r>
          </a:p>
        </p:txBody>
      </p:sp>
      <p:sp>
        <p:nvSpPr>
          <p:cNvPr id="6" name="TextBox 5"/>
          <p:cNvSpPr txBox="1"/>
          <p:nvPr/>
        </p:nvSpPr>
        <p:spPr>
          <a:xfrm>
            <a:off x="868680" y="3017520"/>
            <a:ext cx="3108960" cy="1188720"/>
          </a:xfrm>
          <a:prstGeom prst="rect">
            <a:avLst/>
          </a:prstGeom>
          <a:noFill/>
        </p:spPr>
        <p:txBody>
          <a:bodyPr wrap="square" anchor="t">
            <a:spAutoFit/>
          </a:bodyPr>
          <a:lstStyle/>
          <a:p>
            <a:pPr algn="l"/>
            <a:r>
              <a:rPr sz="1500" b="0">
                <a:solidFill>
                  <a:srgbClr val="E6EDF3"/>
                </a:solidFill>
                <a:latin typeface="Arial"/>
              </a:rPr>
              <a:t>Gut microbes flood the body with molecules. Which of our own proteins do they act on?</a:t>
            </a:r>
          </a:p>
        </p:txBody>
      </p:sp>
      <p:sp>
        <p:nvSpPr>
          <p:cNvPr id="7" name="Rounded Rectangle 6"/>
          <p:cNvSpPr/>
          <p:nvPr/>
        </p:nvSpPr>
        <p:spPr>
          <a:xfrm>
            <a:off x="443484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3440" y="2286000"/>
            <a:ext cx="3108960" cy="731520"/>
          </a:xfrm>
          <a:prstGeom prst="rect">
            <a:avLst/>
          </a:prstGeom>
          <a:noFill/>
        </p:spPr>
        <p:txBody>
          <a:bodyPr wrap="square" anchor="t">
            <a:spAutoFit/>
          </a:bodyPr>
          <a:lstStyle/>
          <a:p>
            <a:pPr algn="l"/>
            <a:r>
              <a:rPr sz="1900" b="1">
                <a:solidFill>
                  <a:srgbClr val="58A6FF"/>
                </a:solidFill>
                <a:latin typeface="Arial"/>
              </a:rPr>
              <a:t>It recovers known biology</a:t>
            </a:r>
          </a:p>
        </p:txBody>
      </p:sp>
      <p:sp>
        <p:nvSpPr>
          <p:cNvPr id="9" name="TextBox 8"/>
          <p:cNvSpPr txBox="1"/>
          <p:nvPr/>
        </p:nvSpPr>
        <p:spPr>
          <a:xfrm>
            <a:off x="4663440" y="3017520"/>
            <a:ext cx="3108960" cy="1188720"/>
          </a:xfrm>
          <a:prstGeom prst="rect">
            <a:avLst/>
          </a:prstGeom>
          <a:noFill/>
        </p:spPr>
        <p:txBody>
          <a:bodyPr wrap="square" anchor="t">
            <a:spAutoFit/>
          </a:bodyPr>
          <a:lstStyle/>
          <a:p>
            <a:pPr algn="l"/>
            <a:r>
              <a:rPr sz="1500" b="0">
                <a:solidFill>
                  <a:srgbClr val="E6EDF3"/>
                </a:solidFill>
                <a:latin typeface="Arial"/>
              </a:rPr>
              <a:t>The forward screen re-finds established microbe-to-host signaling: niacin to HCAR2, bile acids to FXR and TGR5.</a:t>
            </a:r>
          </a:p>
        </p:txBody>
      </p:sp>
      <p:sp>
        <p:nvSpPr>
          <p:cNvPr id="10" name="Rounded Rectangle 9"/>
          <p:cNvSpPr/>
          <p:nvPr/>
        </p:nvSpPr>
        <p:spPr>
          <a:xfrm>
            <a:off x="8229600" y="2103120"/>
            <a:ext cx="3566160" cy="2194560"/>
          </a:xfrm>
          <a:prstGeom prst="roundRect">
            <a:avLst/>
          </a:prstGeom>
          <a:solidFill>
            <a:srgbClr val="161B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58200" y="2286000"/>
            <a:ext cx="3108960" cy="731520"/>
          </a:xfrm>
          <a:prstGeom prst="rect">
            <a:avLst/>
          </a:prstGeom>
          <a:noFill/>
        </p:spPr>
        <p:txBody>
          <a:bodyPr wrap="square" anchor="t">
            <a:spAutoFit/>
          </a:bodyPr>
          <a:lstStyle/>
          <a:p>
            <a:pPr algn="l"/>
            <a:r>
              <a:rPr sz="1900" b="1">
                <a:solidFill>
                  <a:srgbClr val="3FB950"/>
                </a:solidFill>
                <a:latin typeface="Arial"/>
              </a:rPr>
              <a:t>The finding</a:t>
            </a:r>
          </a:p>
        </p:txBody>
      </p:sp>
      <p:sp>
        <p:nvSpPr>
          <p:cNvPr id="12" name="TextBox 11"/>
          <p:cNvSpPr txBox="1"/>
          <p:nvPr/>
        </p:nvSpPr>
        <p:spPr>
          <a:xfrm>
            <a:off x="8458200" y="3017520"/>
            <a:ext cx="3108960" cy="1188720"/>
          </a:xfrm>
          <a:prstGeom prst="rect">
            <a:avLst/>
          </a:prstGeom>
          <a:noFill/>
        </p:spPr>
        <p:txBody>
          <a:bodyPr wrap="square" anchor="t">
            <a:spAutoFit/>
          </a:bodyPr>
          <a:lstStyle/>
          <a:p>
            <a:pPr algn="l"/>
            <a:r>
              <a:rPr sz="1500" b="0">
                <a:solidFill>
                  <a:srgbClr val="E6EDF3"/>
                </a:solidFill>
                <a:latin typeface="Arial"/>
              </a:rPr>
              <a:t>9 microbial carotenoids converge on PXR, the receptor that controls drug clearance. All dock within 1 kcal/mol of the agonist rifampicin.</a:t>
            </a:r>
          </a:p>
        </p:txBody>
      </p:sp>
      <p:pic>
        <p:nvPicPr>
          <p:cNvPr id="13" name="Picture 12" descr="microbiome_downstream.png"/>
          <p:cNvPicPr>
            <a:picLocks noChangeAspect="1"/>
          </p:cNvPicPr>
          <p:nvPr/>
        </p:nvPicPr>
        <p:blipFill>
          <a:blip r:embed="rId2"/>
          <a:stretch>
            <a:fillRect/>
          </a:stretch>
        </p:blipFill>
        <p:spPr>
          <a:xfrm>
            <a:off x="2844637" y="4434840"/>
            <a:ext cx="6472246" cy="21945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822960" y="1463040"/>
            <a:ext cx="10515600" cy="1097280"/>
          </a:xfrm>
          <a:prstGeom prst="rect">
            <a:avLst/>
          </a:prstGeom>
          <a:noFill/>
        </p:spPr>
        <p:txBody>
          <a:bodyPr wrap="square" anchor="t">
            <a:spAutoFit/>
          </a:bodyPr>
          <a:lstStyle/>
          <a:p>
            <a:pPr algn="l"/>
            <a:r>
              <a:rPr sz="3000" b="1">
                <a:solidFill>
                  <a:srgbClr val="E6EDF3"/>
                </a:solidFill>
                <a:latin typeface="Arial"/>
              </a:rPr>
              <a:t>90% of natural products have no known target. We rank them.</a:t>
            </a:r>
          </a:p>
        </p:txBody>
      </p:sp>
      <p:sp>
        <p:nvSpPr>
          <p:cNvPr id="3" name="TextBox 2"/>
          <p:cNvSpPr txBox="1"/>
          <p:nvPr/>
        </p:nvSpPr>
        <p:spPr>
          <a:xfrm>
            <a:off x="822960" y="2834640"/>
            <a:ext cx="10515600" cy="1828800"/>
          </a:xfrm>
          <a:prstGeom prst="rect">
            <a:avLst/>
          </a:prstGeom>
          <a:noFill/>
        </p:spPr>
        <p:txBody>
          <a:bodyPr wrap="square" anchor="t">
            <a:spAutoFit/>
          </a:bodyPr>
          <a:lstStyle/>
          <a:p>
            <a:pPr algn="l"/>
            <a:r>
              <a:rPr sz="2000" b="0">
                <a:solidFill>
                  <a:srgbClr val="9198A1"/>
                </a:solidFill>
                <a:latin typeface="Arial"/>
              </a:rPr>
              <a:t>Structure-backed, resistance-aware leads, ready to test.
Fully open. Every result reproduces from the repository.</a:t>
            </a:r>
          </a:p>
        </p:txBody>
      </p:sp>
      <p:sp>
        <p:nvSpPr>
          <p:cNvPr id="4" name="TextBox 3"/>
          <p:cNvSpPr txBox="1"/>
          <p:nvPr/>
        </p:nvSpPr>
        <p:spPr>
          <a:xfrm>
            <a:off x="822960" y="4937760"/>
            <a:ext cx="10515600" cy="548640"/>
          </a:xfrm>
          <a:prstGeom prst="rect">
            <a:avLst/>
          </a:prstGeom>
          <a:noFill/>
        </p:spPr>
        <p:txBody>
          <a:bodyPr wrap="square" anchor="t">
            <a:spAutoFit/>
          </a:bodyPr>
          <a:lstStyle/>
          <a:p>
            <a:pPr algn="l"/>
            <a:r>
              <a:rPr sz="1700" b="1">
                <a:solidFill>
                  <a:srgbClr val="58A6FF"/>
                </a:solidFill>
                <a:latin typeface="Arial"/>
              </a:rPr>
              <a:t>github.com/DocMartin95/analog-wall-target-prediction</a:t>
            </a:r>
          </a:p>
        </p:txBody>
      </p:sp>
      <p:sp>
        <p:nvSpPr>
          <p:cNvPr id="5" name="TextBox 4"/>
          <p:cNvSpPr txBox="1"/>
          <p:nvPr/>
        </p:nvSpPr>
        <p:spPr>
          <a:xfrm>
            <a:off x="822960" y="5577840"/>
            <a:ext cx="10515600" cy="457200"/>
          </a:xfrm>
          <a:prstGeom prst="rect">
            <a:avLst/>
          </a:prstGeom>
          <a:noFill/>
        </p:spPr>
        <p:txBody>
          <a:bodyPr wrap="square" anchor="t">
            <a:spAutoFit/>
          </a:bodyPr>
          <a:lstStyle/>
          <a:p>
            <a:pPr algn="l"/>
            <a:r>
              <a:rPr sz="1500" b="1">
                <a:solidFill>
                  <a:srgbClr val="3FB950"/>
                </a:solidFill>
                <a:latin typeface="Arial"/>
              </a:rPr>
              <a:t>Built on Claude Science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